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embeddedFontLst>
    <p:embeddedFont>
      <p:font typeface="Workbench"/>
      <p:regular r:id="rId16"/>
    </p:embeddedFont>
    <p:embeddedFont>
      <p:font typeface="Inter"/>
      <p:regular r:id="rId17"/>
    </p:embeddedFont>
    <p:embeddedFont>
      <p:font typeface="Montagu Slab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xmlns="" Id="rId16" Type="http://schemas.openxmlformats.org/officeDocument/2006/relationships/font" Target="fonts/rId16.fntdata"/><Relationship xmlns="" Id="rId17" Type="http://schemas.openxmlformats.org/officeDocument/2006/relationships/font" Target="fonts/rId17.fntdata"/><Relationship xmlns="" Id="rId18" Type="http://schemas.openxmlformats.org/officeDocument/2006/relationships/font" Target="fonts/rId1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791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4333875" y="-5114925"/>
            <a:ext cx="14088003" cy="1408800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0" y="2119313"/>
            <a:ext cx="5715000" cy="900113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1714500" y="2119313"/>
            <a:ext cx="571500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04"/>
              </a:lnSpc>
              <a:buNone/>
            </a:pPr>
            <a:r>
              <a:rPr lang="en-US" sz="3420" spc="-68" kern="0" dirty="0">
                <a:solidFill>
                  <a:srgbClr val="FFFFFF">
                    <a:alpha val="99000"/>
                  </a:srgbClr>
                </a:solidFill>
                <a:latin typeface="Workbench" pitchFamily="34" charset="0"/>
                <a:ea typeface="Workbench" pitchFamily="34" charset="-122"/>
                <a:cs typeface="Workbench" pitchFamily="34" charset="-120"/>
              </a:rPr>
              <a:t>Summer Robotics challenge</a:t>
            </a:r>
            <a:endParaRPr lang="en-US" sz="3420" dirty="0"/>
          </a:p>
        </p:txBody>
      </p:sp>
      <p:sp>
        <p:nvSpPr>
          <p:cNvPr id="5" name="Text 2"/>
          <p:cNvSpPr/>
          <p:nvPr/>
        </p:nvSpPr>
        <p:spPr>
          <a:xfrm>
            <a:off x="1714500" y="2781300"/>
            <a:ext cx="5715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Workbench" pitchFamily="34" charset="0"/>
                <a:ea typeface="Workbench" pitchFamily="34" charset="-122"/>
                <a:cs typeface="Workbench" pitchFamily="34" charset="-120"/>
              </a:rPr>
              <a:t>Welcome</a:t>
            </a:r>
            <a:endParaRPr lang="en-US" sz="128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29063" y="4562475"/>
            <a:ext cx="280988" cy="2714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52913" y="4557713"/>
            <a:ext cx="636770" cy="2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ROBOTICS</a:t>
            </a:r>
            <a:endParaRPr lang="en-US" sz="1107" dirty="0"/>
          </a:p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NATION</a:t>
            </a:r>
            <a:endParaRPr lang="en-US" sz="1107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53125" y="4519613"/>
            <a:ext cx="971550" cy="2857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081212" y="4543425"/>
            <a:ext cx="1257300" cy="314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791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29063" y="4562475"/>
            <a:ext cx="280988" cy="2714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2913" y="4557713"/>
            <a:ext cx="636770" cy="2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ROBOTICS</a:t>
            </a:r>
            <a:endParaRPr lang="en-US" sz="1107" dirty="0"/>
          </a:p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NATION</a:t>
            </a:r>
            <a:endParaRPr lang="en-US" sz="1107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53125" y="4519613"/>
            <a:ext cx="971550" cy="2857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81212" y="4543425"/>
            <a:ext cx="1257300" cy="3143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85838" y="495300"/>
            <a:ext cx="36480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7"/>
              </a:lnSpc>
              <a:buNone/>
            </a:pPr>
            <a:r>
              <a:rPr lang="en-US" sz="2672" spc="-53" kern="0" dirty="0">
                <a:solidFill>
                  <a:srgbClr val="FFFFFF">
                    <a:alpha val="99000"/>
                  </a:srgbClr>
                </a:solidFill>
                <a:latin typeface="Workbench" pitchFamily="34" charset="0"/>
                <a:ea typeface="Workbench" pitchFamily="34" charset="-122"/>
                <a:cs typeface="Workbench" pitchFamily="34" charset="-120"/>
              </a:rPr>
              <a:t>Robotics Nation?</a:t>
            </a:r>
            <a:endParaRPr lang="en-US" sz="2672" dirty="0"/>
          </a:p>
        </p:txBody>
      </p:sp>
      <p:sp>
        <p:nvSpPr>
          <p:cNvPr id="7" name="Text 2"/>
          <p:cNvSpPr/>
          <p:nvPr/>
        </p:nvSpPr>
        <p:spPr>
          <a:xfrm>
            <a:off x="966788" y="1323975"/>
            <a:ext cx="4324350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995"/>
              </a:lnSpc>
              <a:buSzPct val="100000"/>
              <a:buChar char="•"/>
            </a:pPr>
            <a:r>
              <a:rPr lang="en-US" sz="1425" spc="-14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Association set on starting a robotics club in every finnish high school</a:t>
            </a:r>
            <a:endParaRPr lang="en-US" sz="1425" dirty="0"/>
          </a:p>
          <a:p>
            <a:pPr algn="l" marL="342900" indent="-342900">
              <a:lnSpc>
                <a:spcPts val="1995"/>
              </a:lnSpc>
              <a:buSzPct val="100000"/>
              <a:buChar char="•"/>
            </a:pPr>
            <a:r>
              <a:rPr lang="en-US" sz="1425" spc="-14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Want to see more robots in the streets of Finland</a:t>
            </a:r>
            <a:endParaRPr lang="en-US" sz="1425" dirty="0"/>
          </a:p>
          <a:p>
            <a:pPr algn="l" marL="342900" indent="-342900">
              <a:lnSpc>
                <a:spcPts val="1995"/>
              </a:lnSpc>
              <a:buSzPct val="100000"/>
              <a:buChar char="•"/>
            </a:pPr>
            <a:r>
              <a:rPr lang="en-US" sz="1425" spc="-14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If you have a robotics related startup idea let us know, we might be able to help</a:t>
            </a:r>
            <a:endParaRPr lang="en-US" sz="1425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42565" t="0" b="41308"/>
          <a:stretch/>
        </p:blipFill>
        <p:spPr>
          <a:xfrm>
            <a:off x="7210425" y="-1390650"/>
            <a:ext cx="1933575" cy="1975901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19975" y="2324100"/>
            <a:ext cx="1471613" cy="2081212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562600" y="323850"/>
            <a:ext cx="1795463" cy="23955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791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29063" y="4562475"/>
            <a:ext cx="280988" cy="2714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2913" y="4557713"/>
            <a:ext cx="636770" cy="2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ROBOTICS</a:t>
            </a:r>
            <a:endParaRPr lang="en-US" sz="1107" dirty="0"/>
          </a:p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NATION</a:t>
            </a:r>
            <a:endParaRPr lang="en-US" sz="1107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53125" y="4519613"/>
            <a:ext cx="971550" cy="2857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81212" y="4543425"/>
            <a:ext cx="1257300" cy="3143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85838" y="495300"/>
            <a:ext cx="36480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7"/>
              </a:lnSpc>
              <a:buNone/>
            </a:pPr>
            <a:r>
              <a:rPr lang="en-US" sz="2672" spc="-53" kern="0" dirty="0">
                <a:solidFill>
                  <a:srgbClr val="FFFFFF">
                    <a:alpha val="99000"/>
                  </a:srgbClr>
                </a:solidFill>
                <a:latin typeface="Workbench" pitchFamily="34" charset="0"/>
                <a:ea typeface="Workbench" pitchFamily="34" charset="-122"/>
                <a:cs typeface="Workbench" pitchFamily="34" charset="-120"/>
              </a:rPr>
              <a:t>This you?</a:t>
            </a:r>
            <a:endParaRPr lang="en-US" sz="2672" dirty="0"/>
          </a:p>
        </p:txBody>
      </p:sp>
      <p:sp>
        <p:nvSpPr>
          <p:cNvPr id="7" name="Text 2"/>
          <p:cNvSpPr/>
          <p:nvPr/>
        </p:nvSpPr>
        <p:spPr>
          <a:xfrm>
            <a:off x="5338763" y="819150"/>
            <a:ext cx="15525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7"/>
              </a:lnSpc>
              <a:buNone/>
            </a:pPr>
            <a:r>
              <a:rPr lang="en-US" sz="2672" spc="-53" kern="0" dirty="0">
                <a:solidFill>
                  <a:srgbClr val="FFFFFF">
                    <a:alpha val="99000"/>
                  </a:srgbClr>
                </a:solidFill>
                <a:latin typeface="Workbench" pitchFamily="34" charset="0"/>
                <a:ea typeface="Workbench" pitchFamily="34" charset="-122"/>
                <a:cs typeface="Workbench" pitchFamily="34" charset="-120"/>
              </a:rPr>
              <a:t>This you?</a:t>
            </a:r>
            <a:endParaRPr lang="en-US" sz="2672" dirty="0"/>
          </a:p>
        </p:txBody>
      </p:sp>
      <p:sp>
        <p:nvSpPr>
          <p:cNvPr id="8" name="Text 3"/>
          <p:cNvSpPr/>
          <p:nvPr/>
        </p:nvSpPr>
        <p:spPr>
          <a:xfrm>
            <a:off x="966788" y="1323975"/>
            <a:ext cx="43243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Aerorozum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Baymax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Forestbridge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Orika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Primal Intelligence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Robomates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Sunny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Zuper</a:t>
            </a:r>
            <a:endParaRPr lang="en-US" sz="1283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24400" y="1290638"/>
            <a:ext cx="1909762" cy="18478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rcRect l="0" r="46243" t="0" b="30274"/>
          <a:stretch/>
        </p:blipFill>
        <p:spPr>
          <a:xfrm>
            <a:off x="7334250" y="-1019175"/>
            <a:ext cx="1809750" cy="23473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791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29063" y="4562475"/>
            <a:ext cx="280988" cy="2714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2913" y="4557713"/>
            <a:ext cx="636770" cy="2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ROBOTICS</a:t>
            </a:r>
            <a:endParaRPr lang="en-US" sz="1107" dirty="0"/>
          </a:p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NATION</a:t>
            </a:r>
            <a:endParaRPr lang="en-US" sz="1107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53125" y="4519613"/>
            <a:ext cx="971550" cy="2857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81212" y="4543425"/>
            <a:ext cx="1257300" cy="3143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85838" y="495300"/>
            <a:ext cx="56292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7"/>
              </a:lnSpc>
              <a:buNone/>
            </a:pPr>
            <a:r>
              <a:rPr lang="en-US" sz="2672" spc="-53" kern="0" dirty="0">
                <a:solidFill>
                  <a:srgbClr val="FFFFFF">
                    <a:alpha val="99000"/>
                  </a:srgbClr>
                </a:solidFill>
                <a:latin typeface="Workbench" pitchFamily="34" charset="0"/>
                <a:ea typeface="Workbench" pitchFamily="34" charset="-122"/>
                <a:cs typeface="Workbench" pitchFamily="34" charset="-120"/>
              </a:rPr>
              <a:t>Your toys (not yours, not toys)</a:t>
            </a:r>
            <a:endParaRPr lang="en-US" sz="2672" dirty="0"/>
          </a:p>
        </p:txBody>
      </p:sp>
      <p:sp>
        <p:nvSpPr>
          <p:cNvPr id="7" name="Text 2"/>
          <p:cNvSpPr/>
          <p:nvPr/>
        </p:nvSpPr>
        <p:spPr>
          <a:xfrm>
            <a:off x="966788" y="1323975"/>
            <a:ext cx="7248525" cy="3095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Xlerobot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Jetson Orin Nano 8gb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Meta Quest 3S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Orbbec Gemini 335 camera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Anker Solix CX300 DC (powerbank)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Each team has over 1500e worth of hardware. You are borrowing the parts for 3 months and are responsible to compensate any broken, damaged or lost parts 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When you get your hardware check it immediately for defects and let us know.</a:t>
            </a:r>
            <a:endParaRPr lang="en-US" sz="1283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46243" t="0" b="10610"/>
          <a:stretch/>
        </p:blipFill>
        <p:spPr>
          <a:xfrm>
            <a:off x="7334250" y="-357187"/>
            <a:ext cx="1809750" cy="30093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791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29063" y="4562475"/>
            <a:ext cx="280988" cy="2714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2913" y="4557713"/>
            <a:ext cx="636770" cy="2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ROBOTICS</a:t>
            </a:r>
            <a:endParaRPr lang="en-US" sz="1107" dirty="0"/>
          </a:p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NATION</a:t>
            </a:r>
            <a:endParaRPr lang="en-US" sz="1107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53125" y="4519613"/>
            <a:ext cx="971550" cy="28575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081212" y="4543425"/>
            <a:ext cx="1257300" cy="3143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85838" y="495300"/>
            <a:ext cx="67008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7"/>
              </a:lnSpc>
              <a:buNone/>
            </a:pPr>
            <a:r>
              <a:rPr lang="en-US" sz="2672" spc="-53" kern="0" dirty="0">
                <a:solidFill>
                  <a:srgbClr val="FFFFFF">
                    <a:alpha val="99000"/>
                  </a:srgbClr>
                </a:solidFill>
                <a:latin typeface="Workbench" pitchFamily="34" charset="0"/>
                <a:ea typeface="Workbench" pitchFamily="34" charset="-122"/>
                <a:cs typeface="Workbench" pitchFamily="34" charset="-120"/>
              </a:rPr>
              <a:t>Your challenge &amp; judging criteria</a:t>
            </a:r>
            <a:endParaRPr lang="en-US" sz="2672" dirty="0"/>
          </a:p>
        </p:txBody>
      </p:sp>
      <p:sp>
        <p:nvSpPr>
          <p:cNvPr id="7" name="Text 2"/>
          <p:cNvSpPr/>
          <p:nvPr/>
        </p:nvSpPr>
        <p:spPr>
          <a:xfrm>
            <a:off x="966788" y="1328738"/>
            <a:ext cx="432435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Develop a minimum viable product using the hardware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How good demo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How technically impressive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How good business idea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How much effort gone into this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7000e prize pool shared by top 3 teams</a:t>
            </a:r>
            <a:endParaRPr lang="en-US" sz="1283" dirty="0"/>
          </a:p>
          <a:p>
            <a:pPr algn="l" indent="0" marL="0">
              <a:lnSpc>
                <a:spcPts val="1795"/>
              </a:lnSpc>
              <a:buNone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       + marketing award</a:t>
            </a:r>
            <a:endParaRPr lang="en-US" sz="1283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47516" t="0" b="0"/>
          <a:stretch/>
        </p:blipFill>
        <p:spPr>
          <a:xfrm>
            <a:off x="7377113" y="295275"/>
            <a:ext cx="1766888" cy="3366551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81675" y="666750"/>
            <a:ext cx="1995487" cy="38052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791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45253" t="0" b="0"/>
          <a:stretch/>
        </p:blipFill>
        <p:spPr>
          <a:xfrm>
            <a:off x="7300913" y="1362075"/>
            <a:ext cx="1843088" cy="336655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7325" y="2309813"/>
            <a:ext cx="1600200" cy="723900"/>
          </a:xfrm>
          <a:prstGeom prst="rect">
            <a:avLst/>
          </a:prstGeom>
          <a:noFill/>
          <a:ln/>
        </p:spPr>
      </p:sp>
      <p:sp>
        <p:nvSpPr>
          <p:cNvPr id="4" name="Text 1"/>
          <p:cNvSpPr/>
          <p:nvPr/>
        </p:nvSpPr>
        <p:spPr>
          <a:xfrm>
            <a:off x="5267325" y="23098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15.8 3rd check up</a:t>
            </a:r>
            <a:endParaRPr lang="en-US" sz="1033" dirty="0"/>
          </a:p>
        </p:txBody>
      </p:sp>
      <p:sp>
        <p:nvSpPr>
          <p:cNvPr id="5" name="Text 2"/>
          <p:cNvSpPr/>
          <p:nvPr/>
        </p:nvSpPr>
        <p:spPr>
          <a:xfrm>
            <a:off x="5267325" y="2557463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Find out</a:t>
            </a:r>
            <a:endParaRPr lang="en-US" sz="85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267325" y="2767013"/>
            <a:ext cx="9525" cy="2762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77063" y="2176463"/>
            <a:ext cx="1600200" cy="876300"/>
          </a:xfrm>
          <a:prstGeom prst="rect">
            <a:avLst/>
          </a:prstGeom>
          <a:noFill/>
          <a:ln/>
        </p:spPr>
      </p:sp>
      <p:sp>
        <p:nvSpPr>
          <p:cNvPr id="8" name="Text 4"/>
          <p:cNvSpPr/>
          <p:nvPr/>
        </p:nvSpPr>
        <p:spPr>
          <a:xfrm>
            <a:off x="6977063" y="217646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13.9 Demo day</a:t>
            </a:r>
            <a:endParaRPr lang="en-US" sz="1033" dirty="0"/>
          </a:p>
        </p:txBody>
      </p:sp>
      <p:sp>
        <p:nvSpPr>
          <p:cNvPr id="9" name="Text 5"/>
          <p:cNvSpPr/>
          <p:nvPr/>
        </p:nvSpPr>
        <p:spPr>
          <a:xfrm>
            <a:off x="6977063" y="2424113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Present results in front of a jury</a:t>
            </a:r>
            <a:endParaRPr lang="en-US" sz="85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77063" y="2786063"/>
            <a:ext cx="9525" cy="27622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233738" y="3114675"/>
            <a:ext cx="1600200" cy="723900"/>
          </a:xfrm>
          <a:prstGeom prst="rect">
            <a:avLst/>
          </a:prstGeom>
          <a:noFill/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33738" y="3114675"/>
            <a:ext cx="9525" cy="2762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33738" y="3438525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25.7 2nd check up </a:t>
            </a:r>
            <a:endParaRPr lang="en-US" sz="1033" dirty="0"/>
          </a:p>
        </p:txBody>
      </p:sp>
      <p:sp>
        <p:nvSpPr>
          <p:cNvPr id="14" name="Text 8"/>
          <p:cNvSpPr/>
          <p:nvPr/>
        </p:nvSpPr>
        <p:spPr>
          <a:xfrm>
            <a:off x="3233738" y="3686175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Fuck around</a:t>
            </a:r>
            <a:endParaRPr lang="en-US" sz="855" dirty="0"/>
          </a:p>
        </p:txBody>
      </p:sp>
      <p:sp>
        <p:nvSpPr>
          <p:cNvPr id="15" name="Shape 9"/>
          <p:cNvSpPr/>
          <p:nvPr/>
        </p:nvSpPr>
        <p:spPr>
          <a:xfrm>
            <a:off x="8253412" y="3090863"/>
            <a:ext cx="833438" cy="1219200"/>
          </a:xfrm>
          <a:prstGeom prst="rect">
            <a:avLst/>
          </a:prstGeom>
          <a:noFill/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53412" y="3090863"/>
            <a:ext cx="9525" cy="2762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53412" y="3414713"/>
            <a:ext cx="833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30.10-1.11 Robotfair </a:t>
            </a:r>
            <a:endParaRPr lang="en-US" sz="1033" dirty="0"/>
          </a:p>
        </p:txBody>
      </p:sp>
      <p:sp>
        <p:nvSpPr>
          <p:cNvPr id="18" name="Text 11"/>
          <p:cNvSpPr/>
          <p:nvPr/>
        </p:nvSpPr>
        <p:spPr>
          <a:xfrm>
            <a:off x="8253412" y="3852863"/>
            <a:ext cx="833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Winners will also present  here</a:t>
            </a:r>
            <a:endParaRPr lang="en-US" sz="855" dirty="0"/>
          </a:p>
        </p:txBody>
      </p:sp>
      <p:sp>
        <p:nvSpPr>
          <p:cNvPr id="19" name="Shape 12"/>
          <p:cNvSpPr/>
          <p:nvPr/>
        </p:nvSpPr>
        <p:spPr>
          <a:xfrm>
            <a:off x="552450" y="3090863"/>
            <a:ext cx="1600200" cy="1028700"/>
          </a:xfrm>
          <a:prstGeom prst="rect">
            <a:avLst/>
          </a:prstGeom>
          <a:noFill/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52450" y="3090863"/>
            <a:ext cx="9525" cy="276225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2450" y="3414713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13.6 Kickoff</a:t>
            </a:r>
            <a:endParaRPr lang="en-US" sz="1033" dirty="0"/>
          </a:p>
        </p:txBody>
      </p:sp>
      <p:sp>
        <p:nvSpPr>
          <p:cNvPr id="22" name="Text 14"/>
          <p:cNvSpPr/>
          <p:nvPr/>
        </p:nvSpPr>
        <p:spPr>
          <a:xfrm>
            <a:off x="552450" y="3662362"/>
            <a:ext cx="1009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Kickoff, distribution of robots</a:t>
            </a:r>
            <a:endParaRPr lang="en-US" sz="855" dirty="0"/>
          </a:p>
        </p:txBody>
      </p:sp>
      <p:sp>
        <p:nvSpPr>
          <p:cNvPr id="23" name="Text 15"/>
          <p:cNvSpPr/>
          <p:nvPr/>
        </p:nvSpPr>
        <p:spPr>
          <a:xfrm>
            <a:off x="552450" y="609600"/>
            <a:ext cx="79248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7"/>
              </a:lnSpc>
              <a:buNone/>
            </a:pPr>
            <a:r>
              <a:rPr lang="en-US" sz="2672" spc="-53" kern="0" dirty="0">
                <a:solidFill>
                  <a:srgbClr val="FFFFFF">
                    <a:alpha val="99000"/>
                  </a:srgbClr>
                </a:solidFill>
                <a:latin typeface="Workbench" pitchFamily="34" charset="0"/>
                <a:ea typeface="Workbench" pitchFamily="34" charset="-122"/>
                <a:cs typeface="Workbench" pitchFamily="34" charset="-120"/>
              </a:rPr>
              <a:t>Timeline</a:t>
            </a:r>
            <a:endParaRPr lang="en-US" sz="2672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57213" y="3090862"/>
            <a:ext cx="7939087" cy="1905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2024062" y="2062163"/>
            <a:ext cx="1209675" cy="1028700"/>
          </a:xfrm>
          <a:prstGeom prst="rect">
            <a:avLst/>
          </a:prstGeom>
          <a:noFill/>
          <a:ln/>
        </p:spPr>
      </p:sp>
      <p:sp>
        <p:nvSpPr>
          <p:cNvPr id="26" name="Text 17"/>
          <p:cNvSpPr/>
          <p:nvPr/>
        </p:nvSpPr>
        <p:spPr>
          <a:xfrm>
            <a:off x="2024062" y="2062163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4.7 1st check up</a:t>
            </a:r>
            <a:endParaRPr lang="en-US" sz="1033" dirty="0"/>
          </a:p>
        </p:txBody>
      </p:sp>
      <p:sp>
        <p:nvSpPr>
          <p:cNvPr id="27" name="Text 18"/>
          <p:cNvSpPr/>
          <p:nvPr/>
        </p:nvSpPr>
        <p:spPr>
          <a:xfrm>
            <a:off x="2024062" y="2309813"/>
            <a:ext cx="1209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You should be comfortable with your setup now</a:t>
            </a:r>
            <a:endParaRPr lang="en-US" sz="855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024062" y="2824163"/>
            <a:ext cx="9525" cy="27622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47713" y="1357313"/>
            <a:ext cx="7924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140" spc="-11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Progress check ups every 3 weeks:</a:t>
            </a:r>
            <a:endParaRPr lang="en-US" sz="1140" dirty="0"/>
          </a:p>
          <a:p>
            <a:pPr algn="l" indent="0" marL="0">
              <a:lnSpc>
                <a:spcPts val="1596"/>
              </a:lnSpc>
              <a:buNone/>
            </a:pPr>
            <a:r>
              <a:rPr lang="en-US" sz="1140" spc="-11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Send a short message to @mailateippi on how its going in tg and some videos or photos</a:t>
            </a:r>
            <a:endParaRPr lang="en-US" sz="1140" dirty="0"/>
          </a:p>
        </p:txBody>
      </p:sp>
      <p:sp>
        <p:nvSpPr>
          <p:cNvPr id="30" name="Shape 20"/>
          <p:cNvSpPr/>
          <p:nvPr/>
        </p:nvSpPr>
        <p:spPr>
          <a:xfrm>
            <a:off x="6610350" y="3114675"/>
            <a:ext cx="1600200" cy="723900"/>
          </a:xfrm>
          <a:prstGeom prst="rect">
            <a:avLst/>
          </a:prstGeom>
          <a:noFill/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610350" y="3114675"/>
            <a:ext cx="9525" cy="27622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610350" y="3438525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5.9 4th check up </a:t>
            </a:r>
            <a:endParaRPr lang="en-US" sz="1033" dirty="0"/>
          </a:p>
        </p:txBody>
      </p:sp>
      <p:sp>
        <p:nvSpPr>
          <p:cNvPr id="33" name="Text 22"/>
          <p:cNvSpPr/>
          <p:nvPr/>
        </p:nvSpPr>
        <p:spPr>
          <a:xfrm>
            <a:off x="6610350" y="3686175"/>
            <a:ext cx="160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Panic &amp; start grind</a:t>
            </a:r>
            <a:endParaRPr lang="en-US" sz="855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929063" y="4562475"/>
            <a:ext cx="280988" cy="271463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4252913" y="4557713"/>
            <a:ext cx="636770" cy="2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ROBOTICS</a:t>
            </a:r>
            <a:endParaRPr lang="en-US" sz="1107" dirty="0"/>
          </a:p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NATION</a:t>
            </a:r>
            <a:endParaRPr lang="en-US" sz="1107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953125" y="4519613"/>
            <a:ext cx="971550" cy="285750"/>
          </a:xfrm>
          <a:prstGeom prst="rect">
            <a:avLst/>
          </a:prstGeom>
        </p:spPr>
      </p:pic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081212" y="4543425"/>
            <a:ext cx="1257300" cy="314325"/>
          </a:xfrm>
          <a:prstGeom prst="rect">
            <a:avLst/>
          </a:prstGeom>
        </p:spPr>
      </p:pic>
      <p:sp>
        <p:nvSpPr>
          <p:cNvPr id="38" name="Shape 24"/>
          <p:cNvSpPr/>
          <p:nvPr/>
        </p:nvSpPr>
        <p:spPr>
          <a:xfrm>
            <a:off x="4119562" y="2157413"/>
            <a:ext cx="1062038" cy="876300"/>
          </a:xfrm>
          <a:prstGeom prst="rect">
            <a:avLst/>
          </a:prstGeom>
          <a:noFill/>
          <a:ln/>
        </p:spPr>
      </p:sp>
      <p:sp>
        <p:nvSpPr>
          <p:cNvPr id="39" name="Text 25"/>
          <p:cNvSpPr/>
          <p:nvPr/>
        </p:nvSpPr>
        <p:spPr>
          <a:xfrm>
            <a:off x="4119562" y="2157413"/>
            <a:ext cx="1062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033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Midway BBQ</a:t>
            </a:r>
            <a:endParaRPr lang="en-US" sz="1033" dirty="0"/>
          </a:p>
        </p:txBody>
      </p:sp>
      <p:sp>
        <p:nvSpPr>
          <p:cNvPr id="40" name="Text 26"/>
          <p:cNvSpPr/>
          <p:nvPr/>
        </p:nvSpPr>
        <p:spPr>
          <a:xfrm>
            <a:off x="4119562" y="2405063"/>
            <a:ext cx="10620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6"/>
              </a:lnSpc>
              <a:buNone/>
            </a:pPr>
            <a:r>
              <a:rPr lang="en-US" sz="855" spc="-4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Optional event if you’re keen</a:t>
            </a:r>
            <a:endParaRPr lang="en-US" sz="855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4119562" y="2767013"/>
            <a:ext cx="9525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791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40831"/>
          <a:stretch/>
        </p:blipFill>
        <p:spPr>
          <a:xfrm>
            <a:off x="2967038" y="1547813"/>
            <a:ext cx="3186113" cy="359568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29063" y="4562475"/>
            <a:ext cx="280988" cy="2714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52913" y="4557713"/>
            <a:ext cx="636770" cy="2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ROBOTICS</a:t>
            </a:r>
            <a:endParaRPr lang="en-US" sz="1107" dirty="0"/>
          </a:p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NATION</a:t>
            </a:r>
            <a:endParaRPr lang="en-US" sz="1107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53125" y="4519613"/>
            <a:ext cx="971550" cy="28575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081212" y="4543425"/>
            <a:ext cx="1257300" cy="31432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85838" y="495300"/>
            <a:ext cx="36480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7"/>
              </a:lnSpc>
              <a:buNone/>
            </a:pPr>
            <a:r>
              <a:rPr lang="en-US" sz="2672" spc="-53" kern="0" dirty="0">
                <a:solidFill>
                  <a:srgbClr val="FFFFFF">
                    <a:alpha val="99000"/>
                  </a:srgbClr>
                </a:solidFill>
                <a:latin typeface="Workbench" pitchFamily="34" charset="0"/>
                <a:ea typeface="Workbench" pitchFamily="34" charset="-122"/>
                <a:cs typeface="Workbench" pitchFamily="34" charset="-120"/>
              </a:rPr>
              <a:t>The few rules</a:t>
            </a:r>
            <a:endParaRPr lang="en-US" sz="2672" dirty="0"/>
          </a:p>
        </p:txBody>
      </p:sp>
      <p:sp>
        <p:nvSpPr>
          <p:cNvPr id="8" name="Text 2"/>
          <p:cNvSpPr/>
          <p:nvPr/>
        </p:nvSpPr>
        <p:spPr>
          <a:xfrm>
            <a:off x="966788" y="1323975"/>
            <a:ext cx="6134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Upgrading / modifying the hardware everything is allowed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For radical improvements be in touch with us first.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Treat hardware with respect</a:t>
            </a:r>
            <a:endParaRPr lang="en-US" sz="1283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47516" t="0" b="17809"/>
          <a:stretch/>
        </p:blipFill>
        <p:spPr>
          <a:xfrm>
            <a:off x="7377113" y="2376487"/>
            <a:ext cx="1766888" cy="2767013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076325" y="2047875"/>
            <a:ext cx="36480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7"/>
              </a:lnSpc>
              <a:buNone/>
            </a:pPr>
            <a:r>
              <a:rPr lang="en-US" sz="2672" spc="-53" kern="0" dirty="0">
                <a:solidFill>
                  <a:srgbClr val="FFFFFF">
                    <a:alpha val="99000"/>
                  </a:srgbClr>
                </a:solidFill>
                <a:latin typeface="Workbench" pitchFamily="34" charset="0"/>
                <a:ea typeface="Workbench" pitchFamily="34" charset="-122"/>
                <a:cs typeface="Workbench" pitchFamily="34" charset="-120"/>
              </a:rPr>
              <a:t>Dont go outside</a:t>
            </a:r>
            <a:endParaRPr lang="en-US" sz="267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791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30593" t="0" b="64124"/>
          <a:stretch/>
        </p:blipFill>
        <p:spPr>
          <a:xfrm>
            <a:off x="-1524000" y="1738313"/>
            <a:ext cx="3457575" cy="340518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29063" y="4562475"/>
            <a:ext cx="280988" cy="2714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52913" y="4557713"/>
            <a:ext cx="636770" cy="20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ROBOTICS</a:t>
            </a:r>
            <a:endParaRPr lang="en-US" sz="1107" dirty="0"/>
          </a:p>
          <a:p>
            <a:pPr algn="l" indent="0" marL="0">
              <a:lnSpc>
                <a:spcPts val="1107"/>
              </a:lnSpc>
              <a:buNone/>
            </a:pPr>
            <a:r>
              <a:rPr lang="en-US" sz="1107" b="1" spc="22" kern="0" dirty="0">
                <a:solidFill>
                  <a:srgbClr val="FFFFFF">
                    <a:alpha val="99000"/>
                  </a:srgbClr>
                </a:solidFill>
                <a:latin typeface="Test Söhne Breit" pitchFamily="34" charset="0"/>
                <a:ea typeface="Test Söhne Breit" pitchFamily="34" charset="-122"/>
                <a:cs typeface="Test Söhne Breit" pitchFamily="34" charset="-120"/>
              </a:rPr>
              <a:t>NATION</a:t>
            </a:r>
            <a:endParaRPr lang="en-US" sz="1107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53125" y="4519613"/>
            <a:ext cx="971550" cy="28575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081212" y="4543425"/>
            <a:ext cx="1257300" cy="31432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85838" y="495300"/>
            <a:ext cx="36480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7"/>
              </a:lnSpc>
              <a:buNone/>
            </a:pPr>
            <a:r>
              <a:rPr lang="en-US" sz="2672" spc="-53" kern="0" dirty="0">
                <a:solidFill>
                  <a:srgbClr val="FFFFFF">
                    <a:alpha val="99000"/>
                  </a:srgbClr>
                </a:solidFill>
                <a:latin typeface="Workbench" pitchFamily="34" charset="0"/>
                <a:ea typeface="Workbench" pitchFamily="34" charset="-122"/>
                <a:cs typeface="Workbench" pitchFamily="34" charset="-120"/>
              </a:rPr>
              <a:t>What now?</a:t>
            </a:r>
            <a:endParaRPr lang="en-US" sz="2672" dirty="0"/>
          </a:p>
        </p:txBody>
      </p:sp>
      <p:sp>
        <p:nvSpPr>
          <p:cNvPr id="8" name="Text 2"/>
          <p:cNvSpPr/>
          <p:nvPr/>
        </p:nvSpPr>
        <p:spPr>
          <a:xfrm>
            <a:off x="966788" y="1323975"/>
            <a:ext cx="43243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Come sign the papers and claim your robots.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You have to figure out how to get these out of here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Pizza on the way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Join the official telegram group</a:t>
            </a:r>
            <a:endParaRPr lang="en-US" sz="1283" dirty="0"/>
          </a:p>
          <a:p>
            <a:pPr algn="l" marL="342900" indent="-342900">
              <a:lnSpc>
                <a:spcPts val="1795"/>
              </a:lnSpc>
              <a:buSzPct val="100000"/>
              <a:buChar char="•"/>
            </a:pPr>
            <a:r>
              <a:rPr lang="en-US" sz="1283" spc="-13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Join the unofficial telegram group</a:t>
            </a:r>
            <a:endParaRPr lang="en-US" sz="1283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895975" y="500063"/>
            <a:ext cx="1681163" cy="1738313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234113" y="2576513"/>
            <a:ext cx="1050075" cy="1014413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5891213" y="2124075"/>
            <a:ext cx="1681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Summer Robotics</a:t>
            </a:r>
            <a:endParaRPr lang="en-US" sz="1283" dirty="0"/>
          </a:p>
        </p:txBody>
      </p:sp>
      <p:sp>
        <p:nvSpPr>
          <p:cNvPr id="12" name="Text 4"/>
          <p:cNvSpPr/>
          <p:nvPr/>
        </p:nvSpPr>
        <p:spPr>
          <a:xfrm>
            <a:off x="6019800" y="3590925"/>
            <a:ext cx="1538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3"/>
              </a:lnSpc>
              <a:buNone/>
            </a:pPr>
            <a:r>
              <a:rPr lang="en-US" sz="1283" spc="-26" kern="0" dirty="0">
                <a:solidFill>
                  <a:srgbClr val="FFFFFF">
                    <a:alpha val="99000"/>
                  </a:srgbClr>
                </a:solidFill>
                <a:latin typeface="Montagu Slab" pitchFamily="34" charset="0"/>
                <a:ea typeface="Montagu Slab" pitchFamily="34" charset="-122"/>
                <a:cs typeface="Montagu Slab" pitchFamily="34" charset="-120"/>
              </a:rPr>
              <a:t>Aalto Robotics Club</a:t>
            </a:r>
            <a:endParaRPr lang="en-US" sz="1283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rcRect l="0" r="44687" t="0" b="40443"/>
          <a:stretch/>
        </p:blipFill>
        <p:spPr>
          <a:xfrm>
            <a:off x="7281863" y="3138487"/>
            <a:ext cx="1862138" cy="20050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791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73048"/>
          <a:stretch/>
        </p:blipFill>
        <p:spPr>
          <a:xfrm>
            <a:off x="171450" y="2876550"/>
            <a:ext cx="8411012" cy="2266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2026-06-15T10:35:18Z</dcterms:created>
  <dcterms:modified xsi:type="dcterms:W3CDTF">2026-06-15T10:35:18Z</dcterms:modified>
</cp:coreProperties>
</file>